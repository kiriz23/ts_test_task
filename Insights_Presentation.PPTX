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2004A-0D1C-4641-B472-0CD38A2D79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a:extLst>
              <a:ext uri="{FF2B5EF4-FFF2-40B4-BE49-F238E27FC236}">
                <a16:creationId xmlns:a16="http://schemas.microsoft.com/office/drawing/2014/main" id="{ED643DAB-D517-405F-9A6B-E89E7DD796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a:extLst>
              <a:ext uri="{FF2B5EF4-FFF2-40B4-BE49-F238E27FC236}">
                <a16:creationId xmlns:a16="http://schemas.microsoft.com/office/drawing/2014/main" id="{0F3AAF99-C0A1-4CCB-95DB-FC8FB2382C77}"/>
              </a:ext>
            </a:extLst>
          </p:cNvPr>
          <p:cNvSpPr>
            <a:spLocks noGrp="1"/>
          </p:cNvSpPr>
          <p:nvPr>
            <p:ph type="dt" sz="half" idx="10"/>
          </p:nvPr>
        </p:nvSpPr>
        <p:spPr/>
        <p:txBody>
          <a:bodyPr/>
          <a:lstStyle/>
          <a:p>
            <a:fld id="{BE74E52B-2236-4E66-AD49-9BC87E716F95}" type="datetimeFigureOut">
              <a:rPr lang="ru-RU" smtClean="0"/>
              <a:t>11.12.2024</a:t>
            </a:fld>
            <a:endParaRPr lang="ru-RU"/>
          </a:p>
        </p:txBody>
      </p:sp>
      <p:sp>
        <p:nvSpPr>
          <p:cNvPr id="5" name="Footer Placeholder 4">
            <a:extLst>
              <a:ext uri="{FF2B5EF4-FFF2-40B4-BE49-F238E27FC236}">
                <a16:creationId xmlns:a16="http://schemas.microsoft.com/office/drawing/2014/main" id="{88FAD669-AAC2-4B91-997E-AEA760462709}"/>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2B582DCB-755B-429E-8C70-CA089C4A5957}"/>
              </a:ext>
            </a:extLst>
          </p:cNvPr>
          <p:cNvSpPr>
            <a:spLocks noGrp="1"/>
          </p:cNvSpPr>
          <p:nvPr>
            <p:ph type="sldNum" sz="quarter" idx="12"/>
          </p:nvPr>
        </p:nvSpPr>
        <p:spPr/>
        <p:txBody>
          <a:bodyPr/>
          <a:lstStyle/>
          <a:p>
            <a:fld id="{7279FDFD-8CE6-4D9A-8418-9B5F7F0C640D}" type="slidenum">
              <a:rPr lang="ru-RU" smtClean="0"/>
              <a:t>‹#›</a:t>
            </a:fld>
            <a:endParaRPr lang="ru-RU"/>
          </a:p>
        </p:txBody>
      </p:sp>
    </p:spTree>
    <p:extLst>
      <p:ext uri="{BB962C8B-B14F-4D97-AF65-F5344CB8AC3E}">
        <p14:creationId xmlns:p14="http://schemas.microsoft.com/office/powerpoint/2010/main" val="3331984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0DE62-81F2-4FE3-9FB5-006EC07637BA}"/>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4AC6C956-67CE-445D-A1EF-43E3228234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5103671E-30AB-47C9-83D6-E8ADDA235139}"/>
              </a:ext>
            </a:extLst>
          </p:cNvPr>
          <p:cNvSpPr>
            <a:spLocks noGrp="1"/>
          </p:cNvSpPr>
          <p:nvPr>
            <p:ph type="dt" sz="half" idx="10"/>
          </p:nvPr>
        </p:nvSpPr>
        <p:spPr/>
        <p:txBody>
          <a:bodyPr/>
          <a:lstStyle/>
          <a:p>
            <a:fld id="{BE74E52B-2236-4E66-AD49-9BC87E716F95}" type="datetimeFigureOut">
              <a:rPr lang="ru-RU" smtClean="0"/>
              <a:t>11.12.2024</a:t>
            </a:fld>
            <a:endParaRPr lang="ru-RU"/>
          </a:p>
        </p:txBody>
      </p:sp>
      <p:sp>
        <p:nvSpPr>
          <p:cNvPr id="5" name="Footer Placeholder 4">
            <a:extLst>
              <a:ext uri="{FF2B5EF4-FFF2-40B4-BE49-F238E27FC236}">
                <a16:creationId xmlns:a16="http://schemas.microsoft.com/office/drawing/2014/main" id="{27990890-221F-45A8-8301-A79AF2BB5A27}"/>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8EB6708D-CB96-47B9-91D6-DCAA9E4828D3}"/>
              </a:ext>
            </a:extLst>
          </p:cNvPr>
          <p:cNvSpPr>
            <a:spLocks noGrp="1"/>
          </p:cNvSpPr>
          <p:nvPr>
            <p:ph type="sldNum" sz="quarter" idx="12"/>
          </p:nvPr>
        </p:nvSpPr>
        <p:spPr/>
        <p:txBody>
          <a:bodyPr/>
          <a:lstStyle/>
          <a:p>
            <a:fld id="{7279FDFD-8CE6-4D9A-8418-9B5F7F0C640D}" type="slidenum">
              <a:rPr lang="ru-RU" smtClean="0"/>
              <a:t>‹#›</a:t>
            </a:fld>
            <a:endParaRPr lang="ru-RU"/>
          </a:p>
        </p:txBody>
      </p:sp>
    </p:spTree>
    <p:extLst>
      <p:ext uri="{BB962C8B-B14F-4D97-AF65-F5344CB8AC3E}">
        <p14:creationId xmlns:p14="http://schemas.microsoft.com/office/powerpoint/2010/main" val="3288021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34B5D-52BD-49A4-A3AB-EE9873583C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a:extLst>
              <a:ext uri="{FF2B5EF4-FFF2-40B4-BE49-F238E27FC236}">
                <a16:creationId xmlns:a16="http://schemas.microsoft.com/office/drawing/2014/main" id="{9D6954DB-8E02-4017-B147-1E3FB3DF26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A87D8F-6325-435D-B82B-E3A8C6E1234F}"/>
              </a:ext>
            </a:extLst>
          </p:cNvPr>
          <p:cNvSpPr>
            <a:spLocks noGrp="1"/>
          </p:cNvSpPr>
          <p:nvPr>
            <p:ph type="dt" sz="half" idx="10"/>
          </p:nvPr>
        </p:nvSpPr>
        <p:spPr/>
        <p:txBody>
          <a:bodyPr/>
          <a:lstStyle/>
          <a:p>
            <a:fld id="{BE74E52B-2236-4E66-AD49-9BC87E716F95}" type="datetimeFigureOut">
              <a:rPr lang="ru-RU" smtClean="0"/>
              <a:t>11.12.2024</a:t>
            </a:fld>
            <a:endParaRPr lang="ru-RU"/>
          </a:p>
        </p:txBody>
      </p:sp>
      <p:sp>
        <p:nvSpPr>
          <p:cNvPr id="5" name="Footer Placeholder 4">
            <a:extLst>
              <a:ext uri="{FF2B5EF4-FFF2-40B4-BE49-F238E27FC236}">
                <a16:creationId xmlns:a16="http://schemas.microsoft.com/office/drawing/2014/main" id="{210B659C-8029-4A69-A026-1E0F04BB4DB9}"/>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B3BAB7D5-484B-4B2A-82DD-27B9B37BC24F}"/>
              </a:ext>
            </a:extLst>
          </p:cNvPr>
          <p:cNvSpPr>
            <a:spLocks noGrp="1"/>
          </p:cNvSpPr>
          <p:nvPr>
            <p:ph type="sldNum" sz="quarter" idx="12"/>
          </p:nvPr>
        </p:nvSpPr>
        <p:spPr/>
        <p:txBody>
          <a:bodyPr/>
          <a:lstStyle/>
          <a:p>
            <a:fld id="{7279FDFD-8CE6-4D9A-8418-9B5F7F0C640D}" type="slidenum">
              <a:rPr lang="ru-RU" smtClean="0"/>
              <a:t>‹#›</a:t>
            </a:fld>
            <a:endParaRPr lang="ru-RU"/>
          </a:p>
        </p:txBody>
      </p:sp>
    </p:spTree>
    <p:extLst>
      <p:ext uri="{BB962C8B-B14F-4D97-AF65-F5344CB8AC3E}">
        <p14:creationId xmlns:p14="http://schemas.microsoft.com/office/powerpoint/2010/main" val="1758946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DD52E-0E36-44EF-BA36-CD70DB7F9D88}"/>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F933A845-F721-4D13-A96C-AD443AAE1C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a:extLst>
              <a:ext uri="{FF2B5EF4-FFF2-40B4-BE49-F238E27FC236}">
                <a16:creationId xmlns:a16="http://schemas.microsoft.com/office/drawing/2014/main" id="{0B0C6706-28D3-40BC-A8D1-8603F3A7B1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a:extLst>
              <a:ext uri="{FF2B5EF4-FFF2-40B4-BE49-F238E27FC236}">
                <a16:creationId xmlns:a16="http://schemas.microsoft.com/office/drawing/2014/main" id="{6F464D1E-6174-452A-8992-DC894EE136D3}"/>
              </a:ext>
            </a:extLst>
          </p:cNvPr>
          <p:cNvSpPr>
            <a:spLocks noGrp="1"/>
          </p:cNvSpPr>
          <p:nvPr>
            <p:ph type="dt" sz="half" idx="10"/>
          </p:nvPr>
        </p:nvSpPr>
        <p:spPr/>
        <p:txBody>
          <a:bodyPr/>
          <a:lstStyle/>
          <a:p>
            <a:fld id="{BE74E52B-2236-4E66-AD49-9BC87E716F95}" type="datetimeFigureOut">
              <a:rPr lang="ru-RU" smtClean="0"/>
              <a:t>11.12.2024</a:t>
            </a:fld>
            <a:endParaRPr lang="ru-RU"/>
          </a:p>
        </p:txBody>
      </p:sp>
      <p:sp>
        <p:nvSpPr>
          <p:cNvPr id="6" name="Footer Placeholder 5">
            <a:extLst>
              <a:ext uri="{FF2B5EF4-FFF2-40B4-BE49-F238E27FC236}">
                <a16:creationId xmlns:a16="http://schemas.microsoft.com/office/drawing/2014/main" id="{ED4ECCEE-D120-463E-9FBE-DA185CF9CC7B}"/>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A4463269-AB7B-4BD2-89B3-0352224D6AEA}"/>
              </a:ext>
            </a:extLst>
          </p:cNvPr>
          <p:cNvSpPr>
            <a:spLocks noGrp="1"/>
          </p:cNvSpPr>
          <p:nvPr>
            <p:ph type="sldNum" sz="quarter" idx="12"/>
          </p:nvPr>
        </p:nvSpPr>
        <p:spPr/>
        <p:txBody>
          <a:bodyPr/>
          <a:lstStyle/>
          <a:p>
            <a:fld id="{7279FDFD-8CE6-4D9A-8418-9B5F7F0C640D}" type="slidenum">
              <a:rPr lang="ru-RU" smtClean="0"/>
              <a:t>‹#›</a:t>
            </a:fld>
            <a:endParaRPr lang="ru-RU"/>
          </a:p>
        </p:txBody>
      </p:sp>
    </p:spTree>
    <p:extLst>
      <p:ext uri="{BB962C8B-B14F-4D97-AF65-F5344CB8AC3E}">
        <p14:creationId xmlns:p14="http://schemas.microsoft.com/office/powerpoint/2010/main" val="1057490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29B96-3A98-430D-A359-E7FDF34E3811}"/>
              </a:ext>
            </a:extLst>
          </p:cNvPr>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a:extLst>
              <a:ext uri="{FF2B5EF4-FFF2-40B4-BE49-F238E27FC236}">
                <a16:creationId xmlns:a16="http://schemas.microsoft.com/office/drawing/2014/main" id="{BCF11F9D-25DA-41BF-B310-44B775CA89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F00766-6C9C-4B9C-9351-B493BB1AA2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a:extLst>
              <a:ext uri="{FF2B5EF4-FFF2-40B4-BE49-F238E27FC236}">
                <a16:creationId xmlns:a16="http://schemas.microsoft.com/office/drawing/2014/main" id="{8840CF10-6BC0-4678-BC5C-6171434FD4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F64D5C-3B67-4FA1-9C63-703B5A5A85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a:extLst>
              <a:ext uri="{FF2B5EF4-FFF2-40B4-BE49-F238E27FC236}">
                <a16:creationId xmlns:a16="http://schemas.microsoft.com/office/drawing/2014/main" id="{FA1E3E8C-0D77-4BEB-A2E3-E5E23AE3E561}"/>
              </a:ext>
            </a:extLst>
          </p:cNvPr>
          <p:cNvSpPr>
            <a:spLocks noGrp="1"/>
          </p:cNvSpPr>
          <p:nvPr>
            <p:ph type="dt" sz="half" idx="10"/>
          </p:nvPr>
        </p:nvSpPr>
        <p:spPr/>
        <p:txBody>
          <a:bodyPr/>
          <a:lstStyle/>
          <a:p>
            <a:fld id="{BE74E52B-2236-4E66-AD49-9BC87E716F95}" type="datetimeFigureOut">
              <a:rPr lang="ru-RU" smtClean="0"/>
              <a:t>11.12.2024</a:t>
            </a:fld>
            <a:endParaRPr lang="ru-RU"/>
          </a:p>
        </p:txBody>
      </p:sp>
      <p:sp>
        <p:nvSpPr>
          <p:cNvPr id="8" name="Footer Placeholder 7">
            <a:extLst>
              <a:ext uri="{FF2B5EF4-FFF2-40B4-BE49-F238E27FC236}">
                <a16:creationId xmlns:a16="http://schemas.microsoft.com/office/drawing/2014/main" id="{34D10C86-578E-4624-87CF-F549025F2348}"/>
              </a:ext>
            </a:extLst>
          </p:cNvPr>
          <p:cNvSpPr>
            <a:spLocks noGrp="1"/>
          </p:cNvSpPr>
          <p:nvPr>
            <p:ph type="ftr" sz="quarter" idx="11"/>
          </p:nvPr>
        </p:nvSpPr>
        <p:spPr/>
        <p:txBody>
          <a:bodyPr/>
          <a:lstStyle/>
          <a:p>
            <a:endParaRPr lang="ru-RU"/>
          </a:p>
        </p:txBody>
      </p:sp>
      <p:sp>
        <p:nvSpPr>
          <p:cNvPr id="9" name="Slide Number Placeholder 8">
            <a:extLst>
              <a:ext uri="{FF2B5EF4-FFF2-40B4-BE49-F238E27FC236}">
                <a16:creationId xmlns:a16="http://schemas.microsoft.com/office/drawing/2014/main" id="{DE55E1A8-3425-4AA3-8F65-FF88180FE31C}"/>
              </a:ext>
            </a:extLst>
          </p:cNvPr>
          <p:cNvSpPr>
            <a:spLocks noGrp="1"/>
          </p:cNvSpPr>
          <p:nvPr>
            <p:ph type="sldNum" sz="quarter" idx="12"/>
          </p:nvPr>
        </p:nvSpPr>
        <p:spPr/>
        <p:txBody>
          <a:bodyPr/>
          <a:lstStyle/>
          <a:p>
            <a:fld id="{7279FDFD-8CE6-4D9A-8418-9B5F7F0C640D}" type="slidenum">
              <a:rPr lang="ru-RU" smtClean="0"/>
              <a:t>‹#›</a:t>
            </a:fld>
            <a:endParaRPr lang="ru-RU"/>
          </a:p>
        </p:txBody>
      </p:sp>
    </p:spTree>
    <p:extLst>
      <p:ext uri="{BB962C8B-B14F-4D97-AF65-F5344CB8AC3E}">
        <p14:creationId xmlns:p14="http://schemas.microsoft.com/office/powerpoint/2010/main" val="1977199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5087D-F0AF-419F-9583-6B57286B901F}"/>
              </a:ext>
            </a:extLst>
          </p:cNvPr>
          <p:cNvSpPr>
            <a:spLocks noGrp="1"/>
          </p:cNvSpPr>
          <p:nvPr>
            <p:ph type="title"/>
          </p:nvPr>
        </p:nvSpPr>
        <p:spPr/>
        <p:txBody>
          <a:bodyPr/>
          <a:lstStyle/>
          <a:p>
            <a:r>
              <a:rPr lang="en-US"/>
              <a:t>Click to edit Master title style</a:t>
            </a:r>
            <a:endParaRPr lang="ru-RU"/>
          </a:p>
        </p:txBody>
      </p:sp>
      <p:sp>
        <p:nvSpPr>
          <p:cNvPr id="3" name="Date Placeholder 2">
            <a:extLst>
              <a:ext uri="{FF2B5EF4-FFF2-40B4-BE49-F238E27FC236}">
                <a16:creationId xmlns:a16="http://schemas.microsoft.com/office/drawing/2014/main" id="{80216276-8301-4BFF-8928-B6E48566E2DC}"/>
              </a:ext>
            </a:extLst>
          </p:cNvPr>
          <p:cNvSpPr>
            <a:spLocks noGrp="1"/>
          </p:cNvSpPr>
          <p:nvPr>
            <p:ph type="dt" sz="half" idx="10"/>
          </p:nvPr>
        </p:nvSpPr>
        <p:spPr/>
        <p:txBody>
          <a:bodyPr/>
          <a:lstStyle/>
          <a:p>
            <a:fld id="{BE74E52B-2236-4E66-AD49-9BC87E716F95}" type="datetimeFigureOut">
              <a:rPr lang="ru-RU" smtClean="0"/>
              <a:t>11.12.2024</a:t>
            </a:fld>
            <a:endParaRPr lang="ru-RU"/>
          </a:p>
        </p:txBody>
      </p:sp>
      <p:sp>
        <p:nvSpPr>
          <p:cNvPr id="4" name="Footer Placeholder 3">
            <a:extLst>
              <a:ext uri="{FF2B5EF4-FFF2-40B4-BE49-F238E27FC236}">
                <a16:creationId xmlns:a16="http://schemas.microsoft.com/office/drawing/2014/main" id="{EBE8DE72-4E8C-41FC-9074-A94480286A64}"/>
              </a:ext>
            </a:extLst>
          </p:cNvPr>
          <p:cNvSpPr>
            <a:spLocks noGrp="1"/>
          </p:cNvSpPr>
          <p:nvPr>
            <p:ph type="ftr" sz="quarter" idx="11"/>
          </p:nvPr>
        </p:nvSpPr>
        <p:spPr/>
        <p:txBody>
          <a:bodyPr/>
          <a:lstStyle/>
          <a:p>
            <a:endParaRPr lang="ru-RU"/>
          </a:p>
        </p:txBody>
      </p:sp>
      <p:sp>
        <p:nvSpPr>
          <p:cNvPr id="5" name="Slide Number Placeholder 4">
            <a:extLst>
              <a:ext uri="{FF2B5EF4-FFF2-40B4-BE49-F238E27FC236}">
                <a16:creationId xmlns:a16="http://schemas.microsoft.com/office/drawing/2014/main" id="{57355656-DD62-41E7-8647-8B57C9CF1DD0}"/>
              </a:ext>
            </a:extLst>
          </p:cNvPr>
          <p:cNvSpPr>
            <a:spLocks noGrp="1"/>
          </p:cNvSpPr>
          <p:nvPr>
            <p:ph type="sldNum" sz="quarter" idx="12"/>
          </p:nvPr>
        </p:nvSpPr>
        <p:spPr/>
        <p:txBody>
          <a:bodyPr/>
          <a:lstStyle/>
          <a:p>
            <a:fld id="{7279FDFD-8CE6-4D9A-8418-9B5F7F0C640D}" type="slidenum">
              <a:rPr lang="ru-RU" smtClean="0"/>
              <a:t>‹#›</a:t>
            </a:fld>
            <a:endParaRPr lang="ru-RU"/>
          </a:p>
        </p:txBody>
      </p:sp>
    </p:spTree>
    <p:extLst>
      <p:ext uri="{BB962C8B-B14F-4D97-AF65-F5344CB8AC3E}">
        <p14:creationId xmlns:p14="http://schemas.microsoft.com/office/powerpoint/2010/main" val="2388018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C1DE34-2929-4CAC-AE30-513A5DB72E35}"/>
              </a:ext>
            </a:extLst>
          </p:cNvPr>
          <p:cNvSpPr>
            <a:spLocks noGrp="1"/>
          </p:cNvSpPr>
          <p:nvPr>
            <p:ph type="dt" sz="half" idx="10"/>
          </p:nvPr>
        </p:nvSpPr>
        <p:spPr/>
        <p:txBody>
          <a:bodyPr/>
          <a:lstStyle/>
          <a:p>
            <a:fld id="{BE74E52B-2236-4E66-AD49-9BC87E716F95}" type="datetimeFigureOut">
              <a:rPr lang="ru-RU" smtClean="0"/>
              <a:t>11.12.2024</a:t>
            </a:fld>
            <a:endParaRPr lang="ru-RU"/>
          </a:p>
        </p:txBody>
      </p:sp>
      <p:sp>
        <p:nvSpPr>
          <p:cNvPr id="3" name="Footer Placeholder 2">
            <a:extLst>
              <a:ext uri="{FF2B5EF4-FFF2-40B4-BE49-F238E27FC236}">
                <a16:creationId xmlns:a16="http://schemas.microsoft.com/office/drawing/2014/main" id="{0B572C58-4DAD-4844-B7C0-D63C6DB8BEC2}"/>
              </a:ext>
            </a:extLst>
          </p:cNvPr>
          <p:cNvSpPr>
            <a:spLocks noGrp="1"/>
          </p:cNvSpPr>
          <p:nvPr>
            <p:ph type="ftr" sz="quarter" idx="11"/>
          </p:nvPr>
        </p:nvSpPr>
        <p:spPr/>
        <p:txBody>
          <a:bodyPr/>
          <a:lstStyle/>
          <a:p>
            <a:endParaRPr lang="ru-RU"/>
          </a:p>
        </p:txBody>
      </p:sp>
      <p:sp>
        <p:nvSpPr>
          <p:cNvPr id="4" name="Slide Number Placeholder 3">
            <a:extLst>
              <a:ext uri="{FF2B5EF4-FFF2-40B4-BE49-F238E27FC236}">
                <a16:creationId xmlns:a16="http://schemas.microsoft.com/office/drawing/2014/main" id="{585A8E55-35B0-43D1-9906-305D57568B5B}"/>
              </a:ext>
            </a:extLst>
          </p:cNvPr>
          <p:cNvSpPr>
            <a:spLocks noGrp="1"/>
          </p:cNvSpPr>
          <p:nvPr>
            <p:ph type="sldNum" sz="quarter" idx="12"/>
          </p:nvPr>
        </p:nvSpPr>
        <p:spPr/>
        <p:txBody>
          <a:bodyPr/>
          <a:lstStyle/>
          <a:p>
            <a:fld id="{7279FDFD-8CE6-4D9A-8418-9B5F7F0C640D}" type="slidenum">
              <a:rPr lang="ru-RU" smtClean="0"/>
              <a:t>‹#›</a:t>
            </a:fld>
            <a:endParaRPr lang="ru-RU"/>
          </a:p>
        </p:txBody>
      </p:sp>
    </p:spTree>
    <p:extLst>
      <p:ext uri="{BB962C8B-B14F-4D97-AF65-F5344CB8AC3E}">
        <p14:creationId xmlns:p14="http://schemas.microsoft.com/office/powerpoint/2010/main" val="875171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C7867-ED96-45C6-8430-A5B1706628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a:extLst>
              <a:ext uri="{FF2B5EF4-FFF2-40B4-BE49-F238E27FC236}">
                <a16:creationId xmlns:a16="http://schemas.microsoft.com/office/drawing/2014/main" id="{64FDD7B9-C2BD-4BD9-BF94-51B5C3F5B7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a:extLst>
              <a:ext uri="{FF2B5EF4-FFF2-40B4-BE49-F238E27FC236}">
                <a16:creationId xmlns:a16="http://schemas.microsoft.com/office/drawing/2014/main" id="{ECBBC703-8A2C-4CC3-AB41-836F3F8B76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76D9C4-162B-408F-9E77-4714FF381934}"/>
              </a:ext>
            </a:extLst>
          </p:cNvPr>
          <p:cNvSpPr>
            <a:spLocks noGrp="1"/>
          </p:cNvSpPr>
          <p:nvPr>
            <p:ph type="dt" sz="half" idx="10"/>
          </p:nvPr>
        </p:nvSpPr>
        <p:spPr/>
        <p:txBody>
          <a:bodyPr/>
          <a:lstStyle/>
          <a:p>
            <a:fld id="{BE74E52B-2236-4E66-AD49-9BC87E716F95}" type="datetimeFigureOut">
              <a:rPr lang="ru-RU" smtClean="0"/>
              <a:t>11.12.2024</a:t>
            </a:fld>
            <a:endParaRPr lang="ru-RU"/>
          </a:p>
        </p:txBody>
      </p:sp>
      <p:sp>
        <p:nvSpPr>
          <p:cNvPr id="6" name="Footer Placeholder 5">
            <a:extLst>
              <a:ext uri="{FF2B5EF4-FFF2-40B4-BE49-F238E27FC236}">
                <a16:creationId xmlns:a16="http://schemas.microsoft.com/office/drawing/2014/main" id="{2EC643F5-E6E2-45BC-BFE9-476FD493474D}"/>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8127ED35-3E60-4F61-99F7-53433AA11860}"/>
              </a:ext>
            </a:extLst>
          </p:cNvPr>
          <p:cNvSpPr>
            <a:spLocks noGrp="1"/>
          </p:cNvSpPr>
          <p:nvPr>
            <p:ph type="sldNum" sz="quarter" idx="12"/>
          </p:nvPr>
        </p:nvSpPr>
        <p:spPr/>
        <p:txBody>
          <a:bodyPr/>
          <a:lstStyle/>
          <a:p>
            <a:fld id="{7279FDFD-8CE6-4D9A-8418-9B5F7F0C640D}" type="slidenum">
              <a:rPr lang="ru-RU" smtClean="0"/>
              <a:t>‹#›</a:t>
            </a:fld>
            <a:endParaRPr lang="ru-RU"/>
          </a:p>
        </p:txBody>
      </p:sp>
    </p:spTree>
    <p:extLst>
      <p:ext uri="{BB962C8B-B14F-4D97-AF65-F5344CB8AC3E}">
        <p14:creationId xmlns:p14="http://schemas.microsoft.com/office/powerpoint/2010/main" val="1555557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34253-71E8-48F4-A938-94EB22BE35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a:extLst>
              <a:ext uri="{FF2B5EF4-FFF2-40B4-BE49-F238E27FC236}">
                <a16:creationId xmlns:a16="http://schemas.microsoft.com/office/drawing/2014/main" id="{C796D689-2AB3-4D25-9867-EFA216C120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a:extLst>
              <a:ext uri="{FF2B5EF4-FFF2-40B4-BE49-F238E27FC236}">
                <a16:creationId xmlns:a16="http://schemas.microsoft.com/office/drawing/2014/main" id="{E06ADB57-E3CA-475F-A214-52EA401A9F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8CB72A-3AEA-494E-8520-E6344966FA75}"/>
              </a:ext>
            </a:extLst>
          </p:cNvPr>
          <p:cNvSpPr>
            <a:spLocks noGrp="1"/>
          </p:cNvSpPr>
          <p:nvPr>
            <p:ph type="dt" sz="half" idx="10"/>
          </p:nvPr>
        </p:nvSpPr>
        <p:spPr/>
        <p:txBody>
          <a:bodyPr/>
          <a:lstStyle/>
          <a:p>
            <a:fld id="{BE74E52B-2236-4E66-AD49-9BC87E716F95}" type="datetimeFigureOut">
              <a:rPr lang="ru-RU" smtClean="0"/>
              <a:t>11.12.2024</a:t>
            </a:fld>
            <a:endParaRPr lang="ru-RU"/>
          </a:p>
        </p:txBody>
      </p:sp>
      <p:sp>
        <p:nvSpPr>
          <p:cNvPr id="6" name="Footer Placeholder 5">
            <a:extLst>
              <a:ext uri="{FF2B5EF4-FFF2-40B4-BE49-F238E27FC236}">
                <a16:creationId xmlns:a16="http://schemas.microsoft.com/office/drawing/2014/main" id="{307CD08A-2218-4375-8455-D096B97AA67E}"/>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95141E83-E950-4F80-96F5-A0AF676B053C}"/>
              </a:ext>
            </a:extLst>
          </p:cNvPr>
          <p:cNvSpPr>
            <a:spLocks noGrp="1"/>
          </p:cNvSpPr>
          <p:nvPr>
            <p:ph type="sldNum" sz="quarter" idx="12"/>
          </p:nvPr>
        </p:nvSpPr>
        <p:spPr/>
        <p:txBody>
          <a:bodyPr/>
          <a:lstStyle/>
          <a:p>
            <a:fld id="{7279FDFD-8CE6-4D9A-8418-9B5F7F0C640D}" type="slidenum">
              <a:rPr lang="ru-RU" smtClean="0"/>
              <a:t>‹#›</a:t>
            </a:fld>
            <a:endParaRPr lang="ru-RU"/>
          </a:p>
        </p:txBody>
      </p:sp>
    </p:spTree>
    <p:extLst>
      <p:ext uri="{BB962C8B-B14F-4D97-AF65-F5344CB8AC3E}">
        <p14:creationId xmlns:p14="http://schemas.microsoft.com/office/powerpoint/2010/main" val="1874961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59BD3-44C0-4DE0-A48E-71B235B9092B}"/>
              </a:ext>
            </a:extLst>
          </p:cNvPr>
          <p:cNvSpPr>
            <a:spLocks noGrp="1"/>
          </p:cNvSpPr>
          <p:nvPr>
            <p:ph type="title"/>
          </p:nvPr>
        </p:nvSpPr>
        <p:spPr/>
        <p:txBody>
          <a:bodyPr/>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BDB85BF8-C5B5-4F9F-B6D6-6C9783FFD1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B6CE7FFD-BB4D-4778-8B86-429B062FEE9F}"/>
              </a:ext>
            </a:extLst>
          </p:cNvPr>
          <p:cNvSpPr>
            <a:spLocks noGrp="1"/>
          </p:cNvSpPr>
          <p:nvPr>
            <p:ph type="dt" sz="half" idx="10"/>
          </p:nvPr>
        </p:nvSpPr>
        <p:spPr/>
        <p:txBody>
          <a:bodyPr/>
          <a:lstStyle/>
          <a:p>
            <a:fld id="{BE74E52B-2236-4E66-AD49-9BC87E716F95}" type="datetimeFigureOut">
              <a:rPr lang="ru-RU" smtClean="0"/>
              <a:t>11.12.2024</a:t>
            </a:fld>
            <a:endParaRPr lang="ru-RU"/>
          </a:p>
        </p:txBody>
      </p:sp>
      <p:sp>
        <p:nvSpPr>
          <p:cNvPr id="5" name="Footer Placeholder 4">
            <a:extLst>
              <a:ext uri="{FF2B5EF4-FFF2-40B4-BE49-F238E27FC236}">
                <a16:creationId xmlns:a16="http://schemas.microsoft.com/office/drawing/2014/main" id="{32200B4E-C905-45FA-9771-AB685DDA4F59}"/>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625367EF-E31A-42C4-8CED-020B0D3124A3}"/>
              </a:ext>
            </a:extLst>
          </p:cNvPr>
          <p:cNvSpPr>
            <a:spLocks noGrp="1"/>
          </p:cNvSpPr>
          <p:nvPr>
            <p:ph type="sldNum" sz="quarter" idx="12"/>
          </p:nvPr>
        </p:nvSpPr>
        <p:spPr/>
        <p:txBody>
          <a:bodyPr/>
          <a:lstStyle/>
          <a:p>
            <a:fld id="{7279FDFD-8CE6-4D9A-8418-9B5F7F0C640D}" type="slidenum">
              <a:rPr lang="ru-RU" smtClean="0"/>
              <a:t>‹#›</a:t>
            </a:fld>
            <a:endParaRPr lang="ru-RU"/>
          </a:p>
        </p:txBody>
      </p:sp>
    </p:spTree>
    <p:extLst>
      <p:ext uri="{BB962C8B-B14F-4D97-AF65-F5344CB8AC3E}">
        <p14:creationId xmlns:p14="http://schemas.microsoft.com/office/powerpoint/2010/main" val="4036309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F5AFA5-2010-4A2A-B4F6-4509B2C6485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BED700FB-A67D-437D-BD33-F8A7C2208D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F14CF911-E52E-4501-B3E7-0B8E23CB0ABC}"/>
              </a:ext>
            </a:extLst>
          </p:cNvPr>
          <p:cNvSpPr>
            <a:spLocks noGrp="1"/>
          </p:cNvSpPr>
          <p:nvPr>
            <p:ph type="dt" sz="half" idx="10"/>
          </p:nvPr>
        </p:nvSpPr>
        <p:spPr/>
        <p:txBody>
          <a:bodyPr/>
          <a:lstStyle/>
          <a:p>
            <a:fld id="{BE74E52B-2236-4E66-AD49-9BC87E716F95}" type="datetimeFigureOut">
              <a:rPr lang="ru-RU" smtClean="0"/>
              <a:t>11.12.2024</a:t>
            </a:fld>
            <a:endParaRPr lang="ru-RU"/>
          </a:p>
        </p:txBody>
      </p:sp>
      <p:sp>
        <p:nvSpPr>
          <p:cNvPr id="5" name="Footer Placeholder 4">
            <a:extLst>
              <a:ext uri="{FF2B5EF4-FFF2-40B4-BE49-F238E27FC236}">
                <a16:creationId xmlns:a16="http://schemas.microsoft.com/office/drawing/2014/main" id="{A79F25E2-5E52-444D-BA82-E15D35783CC2}"/>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BB73AFD0-E46E-4290-A7E7-1BEC745FE18D}"/>
              </a:ext>
            </a:extLst>
          </p:cNvPr>
          <p:cNvSpPr>
            <a:spLocks noGrp="1"/>
          </p:cNvSpPr>
          <p:nvPr>
            <p:ph type="sldNum" sz="quarter" idx="12"/>
          </p:nvPr>
        </p:nvSpPr>
        <p:spPr/>
        <p:txBody>
          <a:bodyPr/>
          <a:lstStyle/>
          <a:p>
            <a:fld id="{7279FDFD-8CE6-4D9A-8418-9B5F7F0C640D}" type="slidenum">
              <a:rPr lang="ru-RU" smtClean="0"/>
              <a:t>‹#›</a:t>
            </a:fld>
            <a:endParaRPr lang="ru-RU"/>
          </a:p>
        </p:txBody>
      </p:sp>
    </p:spTree>
    <p:extLst>
      <p:ext uri="{BB962C8B-B14F-4D97-AF65-F5344CB8AC3E}">
        <p14:creationId xmlns:p14="http://schemas.microsoft.com/office/powerpoint/2010/main" val="1858599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033465-9611-4414-8102-BCB87324DC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a:extLst>
              <a:ext uri="{FF2B5EF4-FFF2-40B4-BE49-F238E27FC236}">
                <a16:creationId xmlns:a16="http://schemas.microsoft.com/office/drawing/2014/main" id="{D3BFE83E-66A6-4583-9449-339D6AC46C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240FE118-CB48-416A-A38E-AFED074D96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74E52B-2236-4E66-AD49-9BC87E716F95}" type="datetimeFigureOut">
              <a:rPr lang="ru-RU" smtClean="0"/>
              <a:t>11.12.2024</a:t>
            </a:fld>
            <a:endParaRPr lang="ru-RU"/>
          </a:p>
        </p:txBody>
      </p:sp>
      <p:sp>
        <p:nvSpPr>
          <p:cNvPr id="5" name="Footer Placeholder 4">
            <a:extLst>
              <a:ext uri="{FF2B5EF4-FFF2-40B4-BE49-F238E27FC236}">
                <a16:creationId xmlns:a16="http://schemas.microsoft.com/office/drawing/2014/main" id="{B2D6005E-6B87-49C4-89D3-322BB53EBD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a:extLst>
              <a:ext uri="{FF2B5EF4-FFF2-40B4-BE49-F238E27FC236}">
                <a16:creationId xmlns:a16="http://schemas.microsoft.com/office/drawing/2014/main" id="{0D723AFB-4F0A-4030-9944-81F042B4CB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79FDFD-8CE6-4D9A-8418-9B5F7F0C640D}" type="slidenum">
              <a:rPr lang="ru-RU" smtClean="0"/>
              <a:t>‹#›</a:t>
            </a:fld>
            <a:endParaRPr lang="ru-RU"/>
          </a:p>
        </p:txBody>
      </p:sp>
    </p:spTree>
    <p:extLst>
      <p:ext uri="{BB962C8B-B14F-4D97-AF65-F5344CB8AC3E}">
        <p14:creationId xmlns:p14="http://schemas.microsoft.com/office/powerpoint/2010/main" val="10335475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98D4C-661E-4E20-9296-6068DEE9CC9A}"/>
              </a:ext>
            </a:extLst>
          </p:cNvPr>
          <p:cNvSpPr>
            <a:spLocks noGrp="1"/>
          </p:cNvSpPr>
          <p:nvPr>
            <p:ph type="ctrTitle"/>
          </p:nvPr>
        </p:nvSpPr>
        <p:spPr/>
        <p:txBody>
          <a:bodyPr/>
          <a:lstStyle/>
          <a:p>
            <a:r>
              <a:rPr lang="en-US" dirty="0"/>
              <a:t>Insights presentation</a:t>
            </a:r>
            <a:endParaRPr lang="ru-RU" dirty="0"/>
          </a:p>
        </p:txBody>
      </p:sp>
      <p:sp>
        <p:nvSpPr>
          <p:cNvPr id="3" name="Subtitle 2">
            <a:extLst>
              <a:ext uri="{FF2B5EF4-FFF2-40B4-BE49-F238E27FC236}">
                <a16:creationId xmlns:a16="http://schemas.microsoft.com/office/drawing/2014/main" id="{BFF40D02-D5B5-4440-A0AB-D648905A1CB6}"/>
              </a:ext>
            </a:extLst>
          </p:cNvPr>
          <p:cNvSpPr>
            <a:spLocks noGrp="1"/>
          </p:cNvSpPr>
          <p:nvPr>
            <p:ph type="subTitle" idx="1"/>
          </p:nvPr>
        </p:nvSpPr>
        <p:spPr>
          <a:xfrm>
            <a:off x="7412854" y="5060270"/>
            <a:ext cx="3255146" cy="774577"/>
          </a:xfrm>
        </p:spPr>
        <p:txBody>
          <a:bodyPr/>
          <a:lstStyle/>
          <a:p>
            <a:r>
              <a:rPr lang="en-US" dirty="0"/>
              <a:t>Made by Kyrylo </a:t>
            </a:r>
            <a:r>
              <a:rPr lang="en-US" dirty="0" err="1"/>
              <a:t>Krocha</a:t>
            </a:r>
            <a:endParaRPr lang="ru-RU" dirty="0"/>
          </a:p>
        </p:txBody>
      </p:sp>
    </p:spTree>
    <p:extLst>
      <p:ext uri="{BB962C8B-B14F-4D97-AF65-F5344CB8AC3E}">
        <p14:creationId xmlns:p14="http://schemas.microsoft.com/office/powerpoint/2010/main" val="1291948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92DAA49-0615-405B-82BB-648C551269CF}"/>
              </a:ext>
            </a:extLst>
          </p:cNvPr>
          <p:cNvSpPr>
            <a:spLocks noGrp="1"/>
          </p:cNvSpPr>
          <p:nvPr>
            <p:ph type="body" sz="half" idx="2"/>
          </p:nvPr>
        </p:nvSpPr>
        <p:spPr>
          <a:xfrm>
            <a:off x="968653" y="165978"/>
            <a:ext cx="4675573" cy="2627359"/>
          </a:xfrm>
        </p:spPr>
        <p:txBody>
          <a:bodyPr/>
          <a:lstStyle/>
          <a:p>
            <a:r>
              <a:rPr lang="en-US" dirty="0"/>
              <a:t>From the plot 1, which represents dropout percentages for each stage of funnel, we can see that the highest dropout rates are on stages of entering delivery information and payment details, which suggests that user interface on this stages are not understandable, or users are too overwhelmed with the number of questions, so maybe </a:t>
            </a:r>
            <a:r>
              <a:rPr lang="en-US" b="1" dirty="0"/>
              <a:t>simplifying UI </a:t>
            </a:r>
            <a:r>
              <a:rPr lang="en-US" dirty="0"/>
              <a:t>is a good idea. </a:t>
            </a:r>
            <a:r>
              <a:rPr lang="en-US" b="1" dirty="0"/>
              <a:t>Also, the problem could be lying in the lack of delivery locations and payment methods </a:t>
            </a:r>
            <a:r>
              <a:rPr lang="en-US" dirty="0"/>
              <a:t>– customers just quit the process when they can`t pay for product, or get it delivered to specific location. </a:t>
            </a:r>
            <a:endParaRPr lang="ru-RU" dirty="0"/>
          </a:p>
        </p:txBody>
      </p:sp>
      <p:sp>
        <p:nvSpPr>
          <p:cNvPr id="9" name="TextBox 8">
            <a:extLst>
              <a:ext uri="{FF2B5EF4-FFF2-40B4-BE49-F238E27FC236}">
                <a16:creationId xmlns:a16="http://schemas.microsoft.com/office/drawing/2014/main" id="{C25BBD92-0C3F-4BCA-AA21-9D0A7BB2F70D}"/>
              </a:ext>
            </a:extLst>
          </p:cNvPr>
          <p:cNvSpPr txBox="1"/>
          <p:nvPr/>
        </p:nvSpPr>
        <p:spPr>
          <a:xfrm>
            <a:off x="1014273" y="6488668"/>
            <a:ext cx="2865269" cy="369332"/>
          </a:xfrm>
          <a:prstGeom prst="rect">
            <a:avLst/>
          </a:prstGeom>
          <a:noFill/>
        </p:spPr>
        <p:txBody>
          <a:bodyPr wrap="square">
            <a:spAutoFit/>
          </a:bodyPr>
          <a:lstStyle/>
          <a:p>
            <a:r>
              <a:rPr lang="en-US" dirty="0"/>
              <a:t>Plot 1</a:t>
            </a:r>
            <a:endParaRPr lang="ru-RU" dirty="0"/>
          </a:p>
        </p:txBody>
      </p:sp>
      <p:sp>
        <p:nvSpPr>
          <p:cNvPr id="10" name="TextBox 9">
            <a:extLst>
              <a:ext uri="{FF2B5EF4-FFF2-40B4-BE49-F238E27FC236}">
                <a16:creationId xmlns:a16="http://schemas.microsoft.com/office/drawing/2014/main" id="{64E0BCF1-701F-46A6-AEFD-B08921773F44}"/>
              </a:ext>
            </a:extLst>
          </p:cNvPr>
          <p:cNvSpPr txBox="1"/>
          <p:nvPr/>
        </p:nvSpPr>
        <p:spPr>
          <a:xfrm>
            <a:off x="6802270" y="6478882"/>
            <a:ext cx="2865269" cy="369332"/>
          </a:xfrm>
          <a:prstGeom prst="rect">
            <a:avLst/>
          </a:prstGeom>
          <a:noFill/>
        </p:spPr>
        <p:txBody>
          <a:bodyPr wrap="square">
            <a:spAutoFit/>
          </a:bodyPr>
          <a:lstStyle/>
          <a:p>
            <a:r>
              <a:rPr lang="en-US" dirty="0"/>
              <a:t>Plot 2</a:t>
            </a:r>
            <a:endParaRPr lang="ru-RU" dirty="0"/>
          </a:p>
        </p:txBody>
      </p:sp>
      <p:sp>
        <p:nvSpPr>
          <p:cNvPr id="11" name="Text Placeholder 3">
            <a:extLst>
              <a:ext uri="{FF2B5EF4-FFF2-40B4-BE49-F238E27FC236}">
                <a16:creationId xmlns:a16="http://schemas.microsoft.com/office/drawing/2014/main" id="{72491C89-52D5-42E5-991F-C7DD9E45414D}"/>
              </a:ext>
            </a:extLst>
          </p:cNvPr>
          <p:cNvSpPr txBox="1">
            <a:spLocks/>
          </p:cNvSpPr>
          <p:nvPr/>
        </p:nvSpPr>
        <p:spPr>
          <a:xfrm>
            <a:off x="6696722" y="165978"/>
            <a:ext cx="4675573" cy="262735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dirty="0"/>
              <a:t>As we can see from the second plot, dropout percentages are almost identical across all countries. That means, that </a:t>
            </a:r>
            <a:r>
              <a:rPr lang="en-US" b="1" dirty="0"/>
              <a:t>significant increase of dropouts on delivery and payment stages is not caused by any sort of language or cultural barrier</a:t>
            </a:r>
            <a:r>
              <a:rPr lang="en-US" dirty="0"/>
              <a:t>, but rather just universal problems with UI and delivery/payment options. </a:t>
            </a:r>
            <a:endParaRPr lang="ru-RU" dirty="0"/>
          </a:p>
        </p:txBody>
      </p:sp>
      <p:pic>
        <p:nvPicPr>
          <p:cNvPr id="1028" name="Picture 4">
            <a:extLst>
              <a:ext uri="{FF2B5EF4-FFF2-40B4-BE49-F238E27FC236}">
                <a16:creationId xmlns:a16="http://schemas.microsoft.com/office/drawing/2014/main" id="{31B6221E-8353-4076-8B57-2CC560D97F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653" y="2636421"/>
            <a:ext cx="4277809" cy="39126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3E23314D-97FA-465A-88A1-57F9BD4983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7774" y="2329491"/>
            <a:ext cx="4675573" cy="41591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6122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F3633-0B10-47E9-9C59-C91E26D89BED}"/>
              </a:ext>
            </a:extLst>
          </p:cNvPr>
          <p:cNvSpPr>
            <a:spLocks noGrp="1"/>
          </p:cNvSpPr>
          <p:nvPr>
            <p:ph type="title"/>
          </p:nvPr>
        </p:nvSpPr>
        <p:spPr>
          <a:xfrm>
            <a:off x="339570" y="369332"/>
            <a:ext cx="3932237" cy="989860"/>
          </a:xfrm>
        </p:spPr>
        <p:txBody>
          <a:bodyPr/>
          <a:lstStyle/>
          <a:p>
            <a:r>
              <a:rPr lang="en-US" dirty="0"/>
              <a:t>Campaigns/Source effectiveness analysis</a:t>
            </a:r>
            <a:endParaRPr lang="ru-RU" dirty="0"/>
          </a:p>
        </p:txBody>
      </p:sp>
      <p:sp>
        <p:nvSpPr>
          <p:cNvPr id="4" name="Text Placeholder 3">
            <a:extLst>
              <a:ext uri="{FF2B5EF4-FFF2-40B4-BE49-F238E27FC236}">
                <a16:creationId xmlns:a16="http://schemas.microsoft.com/office/drawing/2014/main" id="{366D8BB6-704B-449E-8FA0-1546E2F2B81D}"/>
              </a:ext>
            </a:extLst>
          </p:cNvPr>
          <p:cNvSpPr>
            <a:spLocks noGrp="1"/>
          </p:cNvSpPr>
          <p:nvPr>
            <p:ph type="body" sz="half" idx="2"/>
          </p:nvPr>
        </p:nvSpPr>
        <p:spPr>
          <a:xfrm>
            <a:off x="9960745" y="494929"/>
            <a:ext cx="1913457" cy="5293311"/>
          </a:xfrm>
        </p:spPr>
        <p:txBody>
          <a:bodyPr>
            <a:normAutofit lnSpcReduction="10000"/>
          </a:bodyPr>
          <a:lstStyle/>
          <a:p>
            <a:r>
              <a:rPr lang="en-US" dirty="0"/>
              <a:t>There is significant increase of dropout on early stages from Facebook(plot 3), specifically on el_21 campaign(plot 4), indicating a misalignment in targeting. So changing targeting preferences for el_21 campaign should improve funnel conversion. </a:t>
            </a:r>
            <a:r>
              <a:rPr lang="en-US" b="1" dirty="0"/>
              <a:t>Alternatively, el_21 can be removed entirely, </a:t>
            </a:r>
            <a:r>
              <a:rPr lang="en-US" dirty="0"/>
              <a:t>saving company money that would be otherwise spent on campaign that doesn`t provide a lot of customers that are really interested in product. </a:t>
            </a:r>
            <a:endParaRPr lang="ru-RU" dirty="0"/>
          </a:p>
        </p:txBody>
      </p:sp>
      <p:pic>
        <p:nvPicPr>
          <p:cNvPr id="2050" name="Picture 2">
            <a:extLst>
              <a:ext uri="{FF2B5EF4-FFF2-40B4-BE49-F238E27FC236}">
                <a16:creationId xmlns:a16="http://schemas.microsoft.com/office/drawing/2014/main" id="{681F3D43-E0D4-4303-8B63-8299B3E219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777" y="1799290"/>
            <a:ext cx="4624248" cy="468937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300A0ABD-1957-4F31-949C-A383B81189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7016" y="1799290"/>
            <a:ext cx="4624248" cy="468937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420736A-FE6D-48DE-BCD0-7CF406E06CB4}"/>
              </a:ext>
            </a:extLst>
          </p:cNvPr>
          <p:cNvSpPr txBox="1"/>
          <p:nvPr/>
        </p:nvSpPr>
        <p:spPr>
          <a:xfrm>
            <a:off x="339570" y="6488668"/>
            <a:ext cx="2865269" cy="369332"/>
          </a:xfrm>
          <a:prstGeom prst="rect">
            <a:avLst/>
          </a:prstGeom>
          <a:noFill/>
        </p:spPr>
        <p:txBody>
          <a:bodyPr wrap="square">
            <a:spAutoFit/>
          </a:bodyPr>
          <a:lstStyle/>
          <a:p>
            <a:r>
              <a:rPr lang="en-US" dirty="0"/>
              <a:t>Plot 3</a:t>
            </a:r>
            <a:endParaRPr lang="ru-RU" dirty="0"/>
          </a:p>
        </p:txBody>
      </p:sp>
      <p:sp>
        <p:nvSpPr>
          <p:cNvPr id="7" name="TextBox 6">
            <a:extLst>
              <a:ext uri="{FF2B5EF4-FFF2-40B4-BE49-F238E27FC236}">
                <a16:creationId xmlns:a16="http://schemas.microsoft.com/office/drawing/2014/main" id="{A6604051-C94D-44ED-BAE0-DB4337335D56}"/>
              </a:ext>
            </a:extLst>
          </p:cNvPr>
          <p:cNvSpPr txBox="1"/>
          <p:nvPr/>
        </p:nvSpPr>
        <p:spPr>
          <a:xfrm>
            <a:off x="5213412" y="6488668"/>
            <a:ext cx="2865269" cy="369332"/>
          </a:xfrm>
          <a:prstGeom prst="rect">
            <a:avLst/>
          </a:prstGeom>
          <a:noFill/>
        </p:spPr>
        <p:txBody>
          <a:bodyPr wrap="square">
            <a:spAutoFit/>
          </a:bodyPr>
          <a:lstStyle/>
          <a:p>
            <a:r>
              <a:rPr lang="en-US" dirty="0"/>
              <a:t>Plot 4</a:t>
            </a:r>
          </a:p>
        </p:txBody>
      </p:sp>
    </p:spTree>
    <p:extLst>
      <p:ext uri="{BB962C8B-B14F-4D97-AF65-F5344CB8AC3E}">
        <p14:creationId xmlns:p14="http://schemas.microsoft.com/office/powerpoint/2010/main" val="1191896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28BAD-E3A3-4759-AAAF-DEE980EB7B0C}"/>
              </a:ext>
            </a:extLst>
          </p:cNvPr>
          <p:cNvSpPr>
            <a:spLocks noGrp="1"/>
          </p:cNvSpPr>
          <p:nvPr>
            <p:ph type="title"/>
          </p:nvPr>
        </p:nvSpPr>
        <p:spPr>
          <a:xfrm>
            <a:off x="839788" y="266330"/>
            <a:ext cx="3932237" cy="941033"/>
          </a:xfrm>
        </p:spPr>
        <p:txBody>
          <a:bodyPr>
            <a:normAutofit fontScale="90000"/>
          </a:bodyPr>
          <a:lstStyle/>
          <a:p>
            <a:r>
              <a:rPr lang="en-US" dirty="0"/>
              <a:t>Campaigns with the greatest user appeal</a:t>
            </a:r>
            <a:endParaRPr lang="ru-RU" dirty="0"/>
          </a:p>
        </p:txBody>
      </p:sp>
      <p:sp>
        <p:nvSpPr>
          <p:cNvPr id="4" name="Text Placeholder 3">
            <a:extLst>
              <a:ext uri="{FF2B5EF4-FFF2-40B4-BE49-F238E27FC236}">
                <a16:creationId xmlns:a16="http://schemas.microsoft.com/office/drawing/2014/main" id="{9D55A3DF-A72B-4997-A36A-EB533A6BC45B}"/>
              </a:ext>
            </a:extLst>
          </p:cNvPr>
          <p:cNvSpPr>
            <a:spLocks noGrp="1"/>
          </p:cNvSpPr>
          <p:nvPr>
            <p:ph type="body" sz="half" idx="2"/>
          </p:nvPr>
        </p:nvSpPr>
        <p:spPr>
          <a:xfrm>
            <a:off x="839788" y="1207363"/>
            <a:ext cx="3932237" cy="5384307"/>
          </a:xfrm>
        </p:spPr>
        <p:txBody>
          <a:bodyPr>
            <a:normAutofit/>
          </a:bodyPr>
          <a:lstStyle/>
          <a:p>
            <a:r>
              <a:rPr lang="en-US" dirty="0"/>
              <a:t>Plot 5 illustrates the percentage of visits to the homepage attributed to each campaign, alongside the average dropout rate for each. The visit percentage is normalized by setting the average number of visits for the most popular campaign, sd_51, as 100%.</a:t>
            </a:r>
          </a:p>
          <a:p>
            <a:r>
              <a:rPr lang="en-US" dirty="0"/>
              <a:t>From the visualization, it is evident that campaign </a:t>
            </a:r>
            <a:r>
              <a:rPr lang="en-US" b="1" dirty="0"/>
              <a:t>sd_51 was the most effective</a:t>
            </a:r>
            <a:r>
              <a:rPr lang="en-US" dirty="0"/>
              <a:t>, attracting an average of </a:t>
            </a:r>
            <a:r>
              <a:rPr lang="en-US" b="1" dirty="0"/>
              <a:t>4,291 visits per day </a:t>
            </a:r>
            <a:r>
              <a:rPr lang="en-US" dirty="0"/>
              <a:t>during its active period. Notably, this campaign also exhibited a relatively low dropout rate, making it a standout performer for the company. These results suggest that campaign sd_51 was not only highly engaging in terms of driving traffic to the homepage but also successful in guiding users deeper into the funnel. This implies that company should analyze the specific elements of sd_51 (e.g., ad creative, target demographics, and platform) to replicate its success in future campaigns.</a:t>
            </a:r>
          </a:p>
          <a:p>
            <a:endParaRPr lang="ru-RU" dirty="0"/>
          </a:p>
        </p:txBody>
      </p:sp>
      <p:pic>
        <p:nvPicPr>
          <p:cNvPr id="1028" name="Picture 4">
            <a:extLst>
              <a:ext uri="{FF2B5EF4-FFF2-40B4-BE49-F238E27FC236}">
                <a16:creationId xmlns:a16="http://schemas.microsoft.com/office/drawing/2014/main" id="{E0ED7823-824C-4C00-8C29-EAEF752CA8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1162" y="457200"/>
            <a:ext cx="5828231" cy="586898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CCB7112-3702-4D08-A45C-0553874F3061}"/>
              </a:ext>
            </a:extLst>
          </p:cNvPr>
          <p:cNvSpPr txBox="1"/>
          <p:nvPr/>
        </p:nvSpPr>
        <p:spPr>
          <a:xfrm>
            <a:off x="6096000" y="6326188"/>
            <a:ext cx="2865269" cy="369332"/>
          </a:xfrm>
          <a:prstGeom prst="rect">
            <a:avLst/>
          </a:prstGeom>
          <a:noFill/>
        </p:spPr>
        <p:txBody>
          <a:bodyPr wrap="square">
            <a:spAutoFit/>
          </a:bodyPr>
          <a:lstStyle/>
          <a:p>
            <a:r>
              <a:rPr lang="en-US" dirty="0"/>
              <a:t>Plot 5</a:t>
            </a:r>
          </a:p>
        </p:txBody>
      </p:sp>
    </p:spTree>
    <p:extLst>
      <p:ext uri="{BB962C8B-B14F-4D97-AF65-F5344CB8AC3E}">
        <p14:creationId xmlns:p14="http://schemas.microsoft.com/office/powerpoint/2010/main" val="2918110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3B695-4464-4921-809F-2BAFD8236D0F}"/>
              </a:ext>
            </a:extLst>
          </p:cNvPr>
          <p:cNvSpPr>
            <a:spLocks noGrp="1"/>
          </p:cNvSpPr>
          <p:nvPr>
            <p:ph type="title"/>
          </p:nvPr>
        </p:nvSpPr>
        <p:spPr>
          <a:xfrm>
            <a:off x="838200" y="365125"/>
            <a:ext cx="10515600" cy="762339"/>
          </a:xfrm>
        </p:spPr>
        <p:txBody>
          <a:bodyPr/>
          <a:lstStyle/>
          <a:p>
            <a:r>
              <a:rPr lang="en-US" dirty="0"/>
              <a:t>Conclusion</a:t>
            </a:r>
            <a:endParaRPr lang="ru-RU" dirty="0"/>
          </a:p>
        </p:txBody>
      </p:sp>
      <p:sp>
        <p:nvSpPr>
          <p:cNvPr id="3" name="Content Placeholder 2">
            <a:extLst>
              <a:ext uri="{FF2B5EF4-FFF2-40B4-BE49-F238E27FC236}">
                <a16:creationId xmlns:a16="http://schemas.microsoft.com/office/drawing/2014/main" id="{D44FEFDD-2177-407A-82C8-880C8C5B7C76}"/>
              </a:ext>
            </a:extLst>
          </p:cNvPr>
          <p:cNvSpPr>
            <a:spLocks noGrp="1"/>
          </p:cNvSpPr>
          <p:nvPr>
            <p:ph idx="1"/>
          </p:nvPr>
        </p:nvSpPr>
        <p:spPr>
          <a:xfrm>
            <a:off x="838200" y="1331650"/>
            <a:ext cx="10515600" cy="4845313"/>
          </a:xfrm>
        </p:spPr>
        <p:txBody>
          <a:bodyPr>
            <a:normAutofit lnSpcReduction="10000"/>
          </a:bodyPr>
          <a:lstStyle/>
          <a:p>
            <a:pPr marL="0" indent="0">
              <a:buNone/>
            </a:pPr>
            <a:r>
              <a:rPr lang="en-US" dirty="0"/>
              <a:t>As a result of analysis, key recommendations are:</a:t>
            </a:r>
          </a:p>
          <a:p>
            <a:pPr marL="0" indent="0">
              <a:buNone/>
            </a:pPr>
            <a:r>
              <a:rPr lang="en-US" b="1" dirty="0"/>
              <a:t>1.Simplify UI and improve delivery/payment options:</a:t>
            </a:r>
          </a:p>
          <a:p>
            <a:pPr lvl="1"/>
            <a:r>
              <a:rPr lang="en-US" dirty="0"/>
              <a:t>Streamline the delivery and payment stages to reduce user friction.</a:t>
            </a:r>
          </a:p>
          <a:p>
            <a:pPr lvl="1"/>
            <a:r>
              <a:rPr lang="en-US" dirty="0"/>
              <a:t>Expand delivery coverage and offer diverse payment methods to accommodate a broader audience.</a:t>
            </a:r>
          </a:p>
          <a:p>
            <a:pPr marL="0" indent="0">
              <a:buNone/>
            </a:pPr>
            <a:r>
              <a:rPr lang="en-US" b="1" dirty="0"/>
              <a:t>2. Refine Facebook campaigns:</a:t>
            </a:r>
            <a:endParaRPr lang="en-US" dirty="0"/>
          </a:p>
          <a:p>
            <a:pPr lvl="1"/>
            <a:r>
              <a:rPr lang="en-US" dirty="0"/>
              <a:t>Adjust targeting preferences for </a:t>
            </a:r>
            <a:r>
              <a:rPr lang="en-US" b="1" dirty="0"/>
              <a:t>el_21</a:t>
            </a:r>
            <a:r>
              <a:rPr lang="en-US" dirty="0"/>
              <a:t> or discontinue it if user interest remains low.</a:t>
            </a:r>
          </a:p>
          <a:p>
            <a:pPr lvl="1"/>
            <a:r>
              <a:rPr lang="en-US" dirty="0"/>
              <a:t>Reinvest resources into campaigns with proven effectiveness.</a:t>
            </a:r>
          </a:p>
          <a:p>
            <a:pPr marL="0" indent="0">
              <a:buNone/>
            </a:pPr>
            <a:r>
              <a:rPr lang="en-US" b="1" dirty="0"/>
              <a:t>3. Replicate success of sd_51:</a:t>
            </a:r>
            <a:endParaRPr lang="en-US" dirty="0"/>
          </a:p>
          <a:p>
            <a:pPr lvl="1"/>
            <a:r>
              <a:rPr lang="en-US" dirty="0"/>
              <a:t>Dive deep into </a:t>
            </a:r>
            <a:r>
              <a:rPr lang="en-US" b="1" dirty="0"/>
              <a:t>sd_51</a:t>
            </a:r>
            <a:r>
              <a:rPr lang="en-US" dirty="0"/>
              <a:t> winning formula and apply similar strategies in future campaigns.</a:t>
            </a:r>
          </a:p>
          <a:p>
            <a:pPr marL="0" indent="0">
              <a:buNone/>
            </a:pPr>
            <a:endParaRPr lang="ru-RU" dirty="0"/>
          </a:p>
        </p:txBody>
      </p:sp>
    </p:spTree>
    <p:extLst>
      <p:ext uri="{BB962C8B-B14F-4D97-AF65-F5344CB8AC3E}">
        <p14:creationId xmlns:p14="http://schemas.microsoft.com/office/powerpoint/2010/main" val="27465918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411</TotalTime>
  <Words>537</Words>
  <Application>Microsoft Office PowerPoint</Application>
  <PresentationFormat>Widescreen</PresentationFormat>
  <Paragraphs>24</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Insights presentation</vt:lpstr>
      <vt:lpstr>PowerPoint Presentation</vt:lpstr>
      <vt:lpstr>Campaigns/Source effectiveness analysis</vt:lpstr>
      <vt:lpstr>Campaigns with the greatest user appeal</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Insights presentation</dc:title>
  <dc:creator>Кирилл Кроча</dc:creator>
  <cp:lastModifiedBy>Кирилл Кроча</cp:lastModifiedBy>
  <cp:revision>18</cp:revision>
  <dcterms:created xsi:type="dcterms:W3CDTF">2024-12-10T19:31:33Z</dcterms:created>
  <dcterms:modified xsi:type="dcterms:W3CDTF">2024-12-11T15:59:23Z</dcterms:modified>
</cp:coreProperties>
</file>